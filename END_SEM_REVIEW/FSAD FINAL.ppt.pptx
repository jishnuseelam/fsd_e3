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74" r:id="rId8"/>
    <p:sldId id="262" r:id="rId9"/>
    <p:sldId id="263" r:id="rId10"/>
    <p:sldId id="264" r:id="rId11"/>
    <p:sldId id="269" r:id="rId12"/>
    <p:sldId id="268" r:id="rId13"/>
    <p:sldId id="273" r:id="rId14"/>
    <p:sldId id="266" r:id="rId15"/>
    <p:sldId id="270" r:id="rId16"/>
    <p:sldId id="265" r:id="rId17"/>
  </p:sldIdLst>
  <p:sldSz cx="18288000" cy="10287000"/>
  <p:notesSz cx="6858000" cy="9144000"/>
  <p:embeddedFontLst>
    <p:embeddedFont>
      <p:font typeface="Bookman Old Style" panose="02050604050505020204" pitchFamily="18" charset="0"/>
      <p:regular r:id="rId18"/>
      <p:bold r:id="rId19"/>
      <p:italic r:id="rId20"/>
      <p:boldItalic r:id="rId21"/>
    </p:embeddedFont>
    <p:embeddedFont>
      <p:font typeface="Cambria" panose="02040503050406030204" pitchFamily="18" charset="0"/>
      <p:regular r:id="rId22"/>
      <p:bold r:id="rId23"/>
      <p:italic r:id="rId24"/>
      <p:boldItalic r:id="rId25"/>
    </p:embeddedFont>
    <p:embeddedFont>
      <p:font typeface="Gotham" panose="020B0604020202020204" charset="0"/>
      <p:regular r:id="rId26"/>
    </p:embeddedFont>
    <p:embeddedFont>
      <p:font typeface="Gotham Bold Italics" panose="020B0604020202020204" charset="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130" y="11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8856225" y="-2224855"/>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799772" y="16492"/>
            <a:ext cx="4131816" cy="1784622"/>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END SEMESTER PROJECT REVIEW</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06-05-2026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501640" y="6057900"/>
            <a:ext cx="15784162" cy="584775"/>
          </a:xfrm>
          <a:prstGeom prst="rect">
            <a:avLst/>
          </a:prstGeom>
          <a:noFill/>
        </p:spPr>
        <p:txBody>
          <a:bodyPr wrap="square" rtlCol="0">
            <a:spAutoFit/>
          </a:bodyPr>
          <a:lstStyle/>
          <a:p>
            <a:pPr algn="ctr"/>
            <a:r>
              <a:rPr lang="en-US" sz="3200" b="1" dirty="0">
                <a:solidFill>
                  <a:schemeClr val="tx2">
                    <a:lumMod val="60000"/>
                    <a:lumOff val="40000"/>
                  </a:schemeClr>
                </a:solidFill>
                <a:latin typeface="Times New Roman" panose="02020603050405020304" pitchFamily="18" charset="0"/>
                <a:cs typeface="Times New Roman" panose="02020603050405020304" pitchFamily="18" charset="0"/>
              </a:rPr>
              <a:t>Ticket Booking Platform</a:t>
            </a:r>
            <a:endParaRPr lang="en-IN" sz="3200" b="1" dirty="0">
              <a:solidFill>
                <a:schemeClr val="tx2">
                  <a:lumMod val="60000"/>
                  <a:lumOff val="40000"/>
                </a:schemeClr>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err="1">
                <a:latin typeface="Cambria" panose="02040503050406030204" pitchFamily="18" charset="0"/>
                <a:ea typeface="Cambria" panose="02040503050406030204" pitchFamily="18" charset="0"/>
              </a:rPr>
              <a:t>S.Jishnu</a:t>
            </a:r>
            <a:r>
              <a:rPr lang="en-US" sz="3000" dirty="0">
                <a:latin typeface="Cambria" panose="02040503050406030204" pitchFamily="18" charset="0"/>
                <a:ea typeface="Cambria" panose="02040503050406030204" pitchFamily="18" charset="0"/>
              </a:rPr>
              <a:t> </a:t>
            </a:r>
            <a:r>
              <a:rPr lang="en-US" sz="3000" dirty="0" err="1">
                <a:latin typeface="Cambria" panose="02040503050406030204" pitchFamily="18" charset="0"/>
                <a:ea typeface="Cambria" panose="02040503050406030204" pitchFamily="18" charset="0"/>
              </a:rPr>
              <a:t>Parameswararao</a:t>
            </a:r>
            <a:r>
              <a:rPr lang="en-US" sz="3000" dirty="0">
                <a:latin typeface="Cambria" panose="02040503050406030204" pitchFamily="18" charset="0"/>
                <a:ea typeface="Cambria" panose="02040503050406030204" pitchFamily="18" charset="0"/>
              </a:rPr>
              <a:t> – VTU26604 – 23UECS0877</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1361527"/>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IN" sz="2800" dirty="0"/>
              <a:t>Dr. Hafizur Rahman – Assistant professor</a:t>
            </a:r>
            <a:endParaRPr lang="en-IN" sz="2800" dirty="0">
              <a:latin typeface="Cambria" panose="02040503050406030204" pitchFamily="18" charset="0"/>
              <a:ea typeface="Cambria" panose="02040503050406030204" pitchFamily="18" charset="0"/>
            </a:endParaRPr>
          </a:p>
        </p:txBody>
      </p:sp>
      <p:sp>
        <p:nvSpPr>
          <p:cNvPr id="3" name="TextBox 2">
            <a:extLst>
              <a:ext uri="{FF2B5EF4-FFF2-40B4-BE49-F238E27FC236}">
                <a16:creationId xmlns:a16="http://schemas.microsoft.com/office/drawing/2014/main" id="{EFA9A340-565B-516B-F756-84E9E970CCCB}"/>
              </a:ext>
            </a:extLst>
          </p:cNvPr>
          <p:cNvSpPr txBox="1"/>
          <p:nvPr/>
        </p:nvSpPr>
        <p:spPr>
          <a:xfrm>
            <a:off x="2362200" y="7073035"/>
            <a:ext cx="16621432" cy="369332"/>
          </a:xfrm>
          <a:prstGeom prst="rect">
            <a:avLst/>
          </a:prstGeom>
          <a:noFill/>
        </p:spPr>
        <p:txBody>
          <a:bodyPr wrap="square">
            <a:spAutoFit/>
          </a:bodyPr>
          <a:lstStyle/>
          <a:p>
            <a:r>
              <a:rPr lang="en-US" sz="1800" b="1" dirty="0">
                <a:latin typeface="Times New Roman" panose="02020603050405020304" pitchFamily="18" charset="0"/>
                <a:ea typeface="Cambria" panose="02040503050406030204" pitchFamily="18" charset="0"/>
                <a:cs typeface="Times New Roman" panose="02020603050405020304" pitchFamily="18" charset="0"/>
              </a:rPr>
              <a:t>SDG: 9 –  </a:t>
            </a:r>
            <a:r>
              <a:rPr lang="en-US" sz="1800" dirty="0">
                <a:latin typeface="Times New Roman" panose="02020603050405020304" pitchFamily="18" charset="0"/>
                <a:ea typeface="Cambria" panose="02040503050406030204" pitchFamily="18" charset="0"/>
                <a:cs typeface="Times New Roman" panose="02020603050405020304" pitchFamily="18" charset="0"/>
              </a:rPr>
              <a:t>Industry , Innovation and Infrastructure </a:t>
            </a:r>
            <a:endParaRPr lang="en-IN" sz="1800" dirty="0">
              <a:latin typeface="Times New Roman" panose="02020603050405020304" pitchFamily="18" charset="0"/>
              <a:ea typeface="Cambria" panose="020405030504060302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dirty="0">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dirty="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5849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2057400" y="1807377"/>
            <a:ext cx="15082325" cy="5632311"/>
          </a:xfrm>
          <a:prstGeom prst="rect">
            <a:avLst/>
          </a:prstGeom>
          <a:noFill/>
        </p:spPr>
        <p:txBody>
          <a:bodyPr wrap="square" rtlCol="0">
            <a:spAutoFit/>
          </a:bodyPr>
          <a:lstStyle/>
          <a:p>
            <a:r>
              <a:rPr lang="en-US" sz="2400" b="1" dirty="0">
                <a:solidFill>
                  <a:srgbClr val="0033CC"/>
                </a:solidFill>
                <a:latin typeface="Times New Roman" panose="02020603050405020304" pitchFamily="18" charset="0"/>
                <a:cs typeface="Times New Roman" panose="02020603050405020304" pitchFamily="18" charset="0"/>
              </a:rPr>
              <a:t>Background of the problem:</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Manual ticket booking systems lack automation and real-time seat management.</a:t>
            </a:r>
            <a:endParaRPr lang="en-IN"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r>
              <a:rPr lang="en-US" sz="2400" b="1" dirty="0">
                <a:solidFill>
                  <a:srgbClr val="0033CC"/>
                </a:solidFill>
                <a:latin typeface="Times New Roman" panose="02020603050405020304" pitchFamily="18" charset="0"/>
                <a:cs typeface="Times New Roman" panose="02020603050405020304" pitchFamily="18" charset="0"/>
              </a:rPr>
              <a:t>Why this project is important:</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It simplifies ticket booking and provides instant confirmation with reduced errors.</a:t>
            </a:r>
          </a:p>
          <a:p>
            <a:endParaRPr lang="en-US" sz="2400" b="1" dirty="0">
              <a:latin typeface="Times New Roman" panose="02020603050405020304" pitchFamily="18" charset="0"/>
              <a:cs typeface="Times New Roman" panose="02020603050405020304" pitchFamily="18" charset="0"/>
            </a:endParaRPr>
          </a:p>
          <a:p>
            <a:r>
              <a:rPr lang="en-US" sz="2400" b="1" dirty="0">
                <a:solidFill>
                  <a:srgbClr val="0033CC"/>
                </a:solidFill>
                <a:latin typeface="Times New Roman" panose="02020603050405020304" pitchFamily="18" charset="0"/>
                <a:cs typeface="Times New Roman" panose="02020603050405020304" pitchFamily="18" charset="0"/>
              </a:rPr>
              <a:t>Real-world relevance:</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Useful for managing departmental events like technical fests, seminars, and workshops.</a:t>
            </a:r>
          </a:p>
          <a:p>
            <a:endParaRPr lang="en-US" sz="2400" dirty="0">
              <a:latin typeface="Times New Roman" panose="02020603050405020304" pitchFamily="18" charset="0"/>
              <a:cs typeface="Times New Roman" panose="02020603050405020304" pitchFamily="18" charset="0"/>
            </a:endParaRPr>
          </a:p>
          <a:p>
            <a:r>
              <a:rPr lang="en-US" sz="2400" b="1" dirty="0">
                <a:solidFill>
                  <a:srgbClr val="0033CC"/>
                </a:solidFill>
                <a:latin typeface="Times New Roman" panose="02020603050405020304" pitchFamily="18" charset="0"/>
                <a:cs typeface="Times New Roman" panose="02020603050405020304" pitchFamily="18" charset="0"/>
              </a:rPr>
              <a:t>Brief overview of the system:</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Useful for managing departmental events like technical fests, seminars, and workshops</a:t>
            </a:r>
          </a:p>
        </p:txBody>
      </p:sp>
      <p:grpSp>
        <p:nvGrpSpPr>
          <p:cNvPr id="6" name="Group 37">
            <a:extLst>
              <a:ext uri="{FF2B5EF4-FFF2-40B4-BE49-F238E27FC236}">
                <a16:creationId xmlns:a16="http://schemas.microsoft.com/office/drawing/2014/main" id="{E5F04D9D-308A-3183-6836-B0EC5388A6D1}"/>
              </a:ext>
            </a:extLst>
          </p:cNvPr>
          <p:cNvGrpSpPr/>
          <p:nvPr/>
        </p:nvGrpSpPr>
        <p:grpSpPr>
          <a:xfrm>
            <a:off x="14020800" y="-8142801"/>
            <a:ext cx="10994424" cy="10994424"/>
            <a:chOff x="0" y="0"/>
            <a:chExt cx="812800" cy="812800"/>
          </a:xfrm>
        </p:grpSpPr>
        <p:sp>
          <p:nvSpPr>
            <p:cNvPr id="7" name="Freeform 38">
              <a:extLst>
                <a:ext uri="{FF2B5EF4-FFF2-40B4-BE49-F238E27FC236}">
                  <a16:creationId xmlns:a16="http://schemas.microsoft.com/office/drawing/2014/main" id="{DD6C4498-CEE7-2D27-F0C3-97EBEC11E86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0" name="TextBox 39">
              <a:extLst>
                <a:ext uri="{FF2B5EF4-FFF2-40B4-BE49-F238E27FC236}">
                  <a16:creationId xmlns:a16="http://schemas.microsoft.com/office/drawing/2014/main" id="{2238B763-36E8-D0F8-087D-09B56E0E974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46">
            <a:extLst>
              <a:ext uri="{FF2B5EF4-FFF2-40B4-BE49-F238E27FC236}">
                <a16:creationId xmlns:a16="http://schemas.microsoft.com/office/drawing/2014/main" id="{A8A7B8E9-D90B-1CF8-14D3-8D2483CAFC58}"/>
              </a:ext>
            </a:extLst>
          </p:cNvPr>
          <p:cNvSpPr txBox="1"/>
          <p:nvPr/>
        </p:nvSpPr>
        <p:spPr>
          <a:xfrm>
            <a:off x="0" y="1216416"/>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8" name="TextBox 47">
            <a:extLst>
              <a:ext uri="{FF2B5EF4-FFF2-40B4-BE49-F238E27FC236}">
                <a16:creationId xmlns:a16="http://schemas.microsoft.com/office/drawing/2014/main" id="{BDE2941C-1504-53F9-99B2-48002CA9A345}"/>
              </a:ext>
            </a:extLst>
          </p:cNvPr>
          <p:cNvSpPr txBox="1"/>
          <p:nvPr/>
        </p:nvSpPr>
        <p:spPr>
          <a:xfrm>
            <a:off x="2209800" y="1638300"/>
            <a:ext cx="15082325" cy="10002738"/>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sz="2400" dirty="0">
                <a:latin typeface="Times New Roman" panose="02020603050405020304" pitchFamily="18" charset="0"/>
                <a:cs typeface="Times New Roman" panose="02020603050405020304" pitchFamily="18" charset="0"/>
              </a:rPr>
              <a:t>In many educational institutions, event ticket booking and registration processes are still handled manually, which consumes more time and increases the chances of errors in maintaining records. Manual systems often lead to problems such as overbooking, incorrect data entry, and difficulty in tracking booking details. Users may also face inconvenience in receiving booking confirmation and accessing booking history. There is a need for a simple, reliable, and automated ticket booking system that can efficiently manage event registrations, validate user inputs, maintain booking records, and provide a smooth and user-friendly booking experience through an online platform.</a:t>
            </a:r>
          </a:p>
          <a:p>
            <a:br>
              <a:rPr lang="en-US"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grpSp>
        <p:nvGrpSpPr>
          <p:cNvPr id="3" name="Group 37">
            <a:extLst>
              <a:ext uri="{FF2B5EF4-FFF2-40B4-BE49-F238E27FC236}">
                <a16:creationId xmlns:a16="http://schemas.microsoft.com/office/drawing/2014/main" id="{2FF1B020-E599-4243-0745-94658C4B75D2}"/>
              </a:ext>
            </a:extLst>
          </p:cNvPr>
          <p:cNvGrpSpPr/>
          <p:nvPr/>
        </p:nvGrpSpPr>
        <p:grpSpPr>
          <a:xfrm>
            <a:off x="14020800" y="-8142801"/>
            <a:ext cx="10994424" cy="10994424"/>
            <a:chOff x="0" y="0"/>
            <a:chExt cx="812800" cy="812800"/>
          </a:xfrm>
        </p:grpSpPr>
        <p:sp>
          <p:nvSpPr>
            <p:cNvPr id="4" name="Freeform 38">
              <a:extLst>
                <a:ext uri="{FF2B5EF4-FFF2-40B4-BE49-F238E27FC236}">
                  <a16:creationId xmlns:a16="http://schemas.microsoft.com/office/drawing/2014/main" id="{8D5722D6-1AB3-AFC3-50FD-97E032A64A8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5" name="TextBox 39">
              <a:extLst>
                <a:ext uri="{FF2B5EF4-FFF2-40B4-BE49-F238E27FC236}">
                  <a16:creationId xmlns:a16="http://schemas.microsoft.com/office/drawing/2014/main" id="{8C494B58-803A-A1A0-E7D1-2C6625F9E9EF}"/>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grpSp>
        <p:nvGrpSpPr>
          <p:cNvPr id="3" name="Group 37">
            <a:extLst>
              <a:ext uri="{FF2B5EF4-FFF2-40B4-BE49-F238E27FC236}">
                <a16:creationId xmlns:a16="http://schemas.microsoft.com/office/drawing/2014/main" id="{CF58B49F-CF64-89F9-D6CB-EEBCFCA5C762}"/>
              </a:ext>
            </a:extLst>
          </p:cNvPr>
          <p:cNvGrpSpPr/>
          <p:nvPr/>
        </p:nvGrpSpPr>
        <p:grpSpPr>
          <a:xfrm>
            <a:off x="14020800" y="-8142801"/>
            <a:ext cx="10994424" cy="10994424"/>
            <a:chOff x="0" y="0"/>
            <a:chExt cx="812800" cy="812800"/>
          </a:xfrm>
        </p:grpSpPr>
        <p:sp>
          <p:nvSpPr>
            <p:cNvPr id="4" name="Freeform 38">
              <a:extLst>
                <a:ext uri="{FF2B5EF4-FFF2-40B4-BE49-F238E27FC236}">
                  <a16:creationId xmlns:a16="http://schemas.microsoft.com/office/drawing/2014/main" id="{BFE0BB44-45F2-A4A6-9B89-0E8576D6182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5" name="TextBox 39">
              <a:extLst>
                <a:ext uri="{FF2B5EF4-FFF2-40B4-BE49-F238E27FC236}">
                  <a16:creationId xmlns:a16="http://schemas.microsoft.com/office/drawing/2014/main" id="{B7E50780-1EA1-5613-9DE5-1713C4D8E91F}"/>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6" name="TextBox 5">
            <a:extLst>
              <a:ext uri="{FF2B5EF4-FFF2-40B4-BE49-F238E27FC236}">
                <a16:creationId xmlns:a16="http://schemas.microsoft.com/office/drawing/2014/main" id="{9C6502AF-CCC8-31E6-FA60-391BF4CC2DF4}"/>
              </a:ext>
            </a:extLst>
          </p:cNvPr>
          <p:cNvSpPr txBox="1"/>
          <p:nvPr/>
        </p:nvSpPr>
        <p:spPr>
          <a:xfrm>
            <a:off x="2209800" y="1638300"/>
            <a:ext cx="15082325" cy="5539978"/>
          </a:xfrm>
          <a:prstGeom prst="rect">
            <a:avLst/>
          </a:prstGeom>
          <a:noFill/>
        </p:spPr>
        <p:txBody>
          <a:bodyPr wrap="square" rtlCol="0">
            <a:spAutoFit/>
          </a:bodyPr>
          <a:lstStyle/>
          <a:p>
            <a:endParaRPr lang="en-US" dirty="0"/>
          </a:p>
          <a:p>
            <a:endParaRPr lang="en-US" sz="2800" dirty="0"/>
          </a:p>
          <a:p>
            <a:endParaRPr lang="en-US" sz="2800" dirty="0"/>
          </a:p>
          <a:p>
            <a:endParaRPr lang="en-US" sz="2800" dirty="0"/>
          </a:p>
          <a:p>
            <a:endParaRPr lang="en-US" sz="2800" dirty="0"/>
          </a:p>
          <a:p>
            <a:endParaRPr lang="en-US" sz="2800" dirty="0"/>
          </a:p>
          <a:p>
            <a:endParaRPr lang="en-US" sz="2800" dirty="0"/>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To develop a user-friendly web application for online event ticket booking using React JS.</a:t>
            </a:r>
          </a:p>
          <a:p>
            <a:pPr marL="285750" indent="-28575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To validate user inputs and prevent overbooking during ticket reservation.</a:t>
            </a:r>
          </a:p>
          <a:p>
            <a:pPr marL="285750" indent="-28575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To provide booking confirmation and maintain booking history efficiently.</a:t>
            </a:r>
          </a:p>
          <a:p>
            <a:br>
              <a:rPr lang="en-US" sz="2400" dirty="0">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9C113F10-394E-9AEB-D158-6865B1E60F92}"/>
              </a:ext>
            </a:extLst>
          </p:cNvPr>
          <p:cNvSpPr>
            <a:spLocks noChangeArrowheads="1"/>
          </p:cNvSpPr>
          <p:nvPr/>
        </p:nvSpPr>
        <p:spPr bwMode="auto">
          <a:xfrm>
            <a:off x="0" y="-323165"/>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Box 47">
            <a:extLst>
              <a:ext uri="{FF2B5EF4-FFF2-40B4-BE49-F238E27FC236}">
                <a16:creationId xmlns:a16="http://schemas.microsoft.com/office/drawing/2014/main" id="{E8F19716-1653-9AE0-442E-B3829A585B46}"/>
              </a:ext>
            </a:extLst>
          </p:cNvPr>
          <p:cNvSpPr txBox="1"/>
          <p:nvPr/>
        </p:nvSpPr>
        <p:spPr>
          <a:xfrm>
            <a:off x="2209800" y="1638300"/>
            <a:ext cx="15082325" cy="12495728"/>
          </a:xfrm>
          <a:prstGeom prst="rect">
            <a:avLst/>
          </a:prstGeom>
          <a:noFill/>
        </p:spPr>
        <p:txBody>
          <a:bodyPr wrap="square" rtlCol="0">
            <a:spAutoFit/>
          </a:bodyPr>
          <a:lstStyle/>
          <a:p>
            <a:endParaRPr lang="en-US" dirty="0"/>
          </a:p>
          <a:p>
            <a:endParaRPr lang="en-US" dirty="0"/>
          </a:p>
          <a:p>
            <a:endParaRPr lang="en-US" dirty="0"/>
          </a:p>
          <a:p>
            <a:endParaRPr lang="en-US" dirty="0"/>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proposed system is a web-based Event Ticket Booking System developed using React JS.</a:t>
            </a: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It allows users to view event details and book tickets online easily.</a:t>
            </a: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system validates user inputs to avoid incorrect data entry.</a:t>
            </a: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It prevents overbooking by checking ticket availability dynamically.</a:t>
            </a: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Users receive instant booking confirmation and booking summary.</a:t>
            </a: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Booking history is maintained using browser local storage.</a:t>
            </a: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system reduces manual effort and improves booking efficiency.</a:t>
            </a: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Compared to manual systems, it provides faster processing, better accuracy, and improved user experience.</a:t>
            </a:r>
          </a:p>
          <a:p>
            <a:pPr marL="914400" lvl="1" indent="-4572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457200" indent="-457200">
              <a:buFontTx/>
              <a:buChar char="-"/>
            </a:pPr>
            <a:endParaRPr lang="en-US" sz="24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TextBox 45">
            <a:extLst>
              <a:ext uri="{FF2B5EF4-FFF2-40B4-BE49-F238E27FC236}">
                <a16:creationId xmlns:a16="http://schemas.microsoft.com/office/drawing/2014/main" id="{E7218D14-8F44-8040-8BFD-49A59591F527}"/>
              </a:ext>
            </a:extLst>
          </p:cNvPr>
          <p:cNvSpPr txBox="1"/>
          <p:nvPr/>
        </p:nvSpPr>
        <p:spPr>
          <a:xfrm>
            <a:off x="25879" y="400481"/>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grpSp>
        <p:nvGrpSpPr>
          <p:cNvPr id="2" name="Group 37">
            <a:extLst>
              <a:ext uri="{FF2B5EF4-FFF2-40B4-BE49-F238E27FC236}">
                <a16:creationId xmlns:a16="http://schemas.microsoft.com/office/drawing/2014/main" id="{4F283DDE-1616-62AE-4C34-D40B631B4EC7}"/>
              </a:ext>
            </a:extLst>
          </p:cNvPr>
          <p:cNvGrpSpPr/>
          <p:nvPr/>
        </p:nvGrpSpPr>
        <p:grpSpPr>
          <a:xfrm>
            <a:off x="14020800" y="-8142801"/>
            <a:ext cx="10994424" cy="10994424"/>
            <a:chOff x="0" y="0"/>
            <a:chExt cx="812800" cy="812800"/>
          </a:xfrm>
        </p:grpSpPr>
        <p:sp>
          <p:nvSpPr>
            <p:cNvPr id="3" name="Freeform 38">
              <a:extLst>
                <a:ext uri="{FF2B5EF4-FFF2-40B4-BE49-F238E27FC236}">
                  <a16:creationId xmlns:a16="http://schemas.microsoft.com/office/drawing/2014/main" id="{1277AC33-DE92-DEAD-3684-F9E584FE7CE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4" name="TextBox 39">
              <a:extLst>
                <a:ext uri="{FF2B5EF4-FFF2-40B4-BE49-F238E27FC236}">
                  <a16:creationId xmlns:a16="http://schemas.microsoft.com/office/drawing/2014/main" id="{56B25065-0B92-DE42-94C2-2ECB8CBB349C}"/>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2" name="TextBox 41">
            <a:extLst>
              <a:ext uri="{FF2B5EF4-FFF2-40B4-BE49-F238E27FC236}">
                <a16:creationId xmlns:a16="http://schemas.microsoft.com/office/drawing/2014/main" id="{A4B3B85F-0C7B-16B9-6D50-94A4DFD2D192}"/>
              </a:ext>
            </a:extLst>
          </p:cNvPr>
          <p:cNvSpPr txBox="1"/>
          <p:nvPr/>
        </p:nvSpPr>
        <p:spPr>
          <a:xfrm>
            <a:off x="0" y="486639"/>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2209800" y="1638300"/>
            <a:ext cx="15082325" cy="5693866"/>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2" name="Picture 1">
            <a:extLst>
              <a:ext uri="{FF2B5EF4-FFF2-40B4-BE49-F238E27FC236}">
                <a16:creationId xmlns:a16="http://schemas.microsoft.com/office/drawing/2014/main" id="{AC7E7367-2DBD-3892-315D-AE21B8029A3E}"/>
              </a:ext>
            </a:extLst>
          </p:cNvPr>
          <p:cNvPicPr>
            <a:picLocks noChangeAspect="1"/>
          </p:cNvPicPr>
          <p:nvPr/>
        </p:nvPicPr>
        <p:blipFill>
          <a:blip r:embed="rId2"/>
          <a:stretch>
            <a:fillRect/>
          </a:stretch>
        </p:blipFill>
        <p:spPr>
          <a:xfrm>
            <a:off x="3352800" y="1637071"/>
            <a:ext cx="10778497" cy="718958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9190ED-CCC4-8A3F-8DA0-4DE1D70FCD7C}"/>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D619C3B0-90D5-1579-3B91-4940272892B6}"/>
              </a:ext>
            </a:extLst>
          </p:cNvPr>
          <p:cNvGrpSpPr/>
          <p:nvPr/>
        </p:nvGrpSpPr>
        <p:grpSpPr>
          <a:xfrm>
            <a:off x="709357" y="4655766"/>
            <a:ext cx="992463" cy="992463"/>
            <a:chOff x="0" y="0"/>
            <a:chExt cx="812800" cy="812800"/>
          </a:xfrm>
        </p:grpSpPr>
        <p:sp>
          <p:nvSpPr>
            <p:cNvPr id="6" name="Freeform 6">
              <a:extLst>
                <a:ext uri="{FF2B5EF4-FFF2-40B4-BE49-F238E27FC236}">
                  <a16:creationId xmlns:a16="http://schemas.microsoft.com/office/drawing/2014/main" id="{8FCDCD31-AD62-1583-CA0C-FAF5A3991D4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a:extLst>
                <a:ext uri="{FF2B5EF4-FFF2-40B4-BE49-F238E27FC236}">
                  <a16:creationId xmlns:a16="http://schemas.microsoft.com/office/drawing/2014/main" id="{75977579-460E-3CAA-BB36-BD3C12836443}"/>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a:extLst>
              <a:ext uri="{FF2B5EF4-FFF2-40B4-BE49-F238E27FC236}">
                <a16:creationId xmlns:a16="http://schemas.microsoft.com/office/drawing/2014/main" id="{6BB246B7-D0D8-88C4-2CA0-E0DEC6584362}"/>
              </a:ext>
            </a:extLst>
          </p:cNvPr>
          <p:cNvGrpSpPr/>
          <p:nvPr/>
        </p:nvGrpSpPr>
        <p:grpSpPr>
          <a:xfrm>
            <a:off x="951509" y="3320505"/>
            <a:ext cx="508158" cy="543805"/>
            <a:chOff x="0" y="0"/>
            <a:chExt cx="812800" cy="869819"/>
          </a:xfrm>
        </p:grpSpPr>
        <p:sp>
          <p:nvSpPr>
            <p:cNvPr id="9" name="Freeform 9">
              <a:extLst>
                <a:ext uri="{FF2B5EF4-FFF2-40B4-BE49-F238E27FC236}">
                  <a16:creationId xmlns:a16="http://schemas.microsoft.com/office/drawing/2014/main" id="{3385623B-236E-8230-C67E-E91F7F718C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a:extLst>
                <a:ext uri="{FF2B5EF4-FFF2-40B4-BE49-F238E27FC236}">
                  <a16:creationId xmlns:a16="http://schemas.microsoft.com/office/drawing/2014/main" id="{E6CE5CCF-635A-952E-1453-0E8A617543D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D1A300F1-0C4F-AB0B-6711-CB54626DBDE6}"/>
              </a:ext>
            </a:extLst>
          </p:cNvPr>
          <p:cNvGrpSpPr/>
          <p:nvPr/>
        </p:nvGrpSpPr>
        <p:grpSpPr>
          <a:xfrm>
            <a:off x="951509" y="1987111"/>
            <a:ext cx="508158" cy="543805"/>
            <a:chOff x="0" y="0"/>
            <a:chExt cx="812800" cy="869819"/>
          </a:xfrm>
        </p:grpSpPr>
        <p:sp>
          <p:nvSpPr>
            <p:cNvPr id="12" name="Freeform 12">
              <a:extLst>
                <a:ext uri="{FF2B5EF4-FFF2-40B4-BE49-F238E27FC236}">
                  <a16:creationId xmlns:a16="http://schemas.microsoft.com/office/drawing/2014/main" id="{CD27EB6C-7975-CDC1-4C5A-55C26531F2A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a:extLst>
                <a:ext uri="{FF2B5EF4-FFF2-40B4-BE49-F238E27FC236}">
                  <a16:creationId xmlns:a16="http://schemas.microsoft.com/office/drawing/2014/main" id="{29C3DDC7-3DFB-9F67-7568-A688489B090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EBFB0D50-4F80-6200-221B-98E094B3E604}"/>
              </a:ext>
            </a:extLst>
          </p:cNvPr>
          <p:cNvGrpSpPr/>
          <p:nvPr/>
        </p:nvGrpSpPr>
        <p:grpSpPr>
          <a:xfrm>
            <a:off x="951509" y="3988135"/>
            <a:ext cx="508158" cy="543805"/>
            <a:chOff x="0" y="0"/>
            <a:chExt cx="812800" cy="869819"/>
          </a:xfrm>
        </p:grpSpPr>
        <p:sp>
          <p:nvSpPr>
            <p:cNvPr id="15" name="Freeform 15">
              <a:extLst>
                <a:ext uri="{FF2B5EF4-FFF2-40B4-BE49-F238E27FC236}">
                  <a16:creationId xmlns:a16="http://schemas.microsoft.com/office/drawing/2014/main" id="{45AF4583-7B5A-B78D-837B-C1728A004D3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a:extLst>
                <a:ext uri="{FF2B5EF4-FFF2-40B4-BE49-F238E27FC236}">
                  <a16:creationId xmlns:a16="http://schemas.microsoft.com/office/drawing/2014/main" id="{EB485FE0-E9BD-A003-B632-BE8EA0F3CE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3B841654-93F3-DE68-B7DD-F245F92074FA}"/>
              </a:ext>
            </a:extLst>
          </p:cNvPr>
          <p:cNvGrpSpPr/>
          <p:nvPr/>
        </p:nvGrpSpPr>
        <p:grpSpPr>
          <a:xfrm>
            <a:off x="951509" y="2652874"/>
            <a:ext cx="508158" cy="543805"/>
            <a:chOff x="0" y="0"/>
            <a:chExt cx="812800" cy="869819"/>
          </a:xfrm>
        </p:grpSpPr>
        <p:sp>
          <p:nvSpPr>
            <p:cNvPr id="18" name="Freeform 18">
              <a:extLst>
                <a:ext uri="{FF2B5EF4-FFF2-40B4-BE49-F238E27FC236}">
                  <a16:creationId xmlns:a16="http://schemas.microsoft.com/office/drawing/2014/main" id="{6EE57D09-0B5A-D095-F295-72724F0A334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a:extLst>
                <a:ext uri="{FF2B5EF4-FFF2-40B4-BE49-F238E27FC236}">
                  <a16:creationId xmlns:a16="http://schemas.microsoft.com/office/drawing/2014/main" id="{CD704C02-64B5-5554-3762-C8B38894808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8BF0596C-147F-6032-DDB7-654874235649}"/>
              </a:ext>
            </a:extLst>
          </p:cNvPr>
          <p:cNvGrpSpPr/>
          <p:nvPr/>
        </p:nvGrpSpPr>
        <p:grpSpPr>
          <a:xfrm>
            <a:off x="951509" y="6430348"/>
            <a:ext cx="508158" cy="543805"/>
            <a:chOff x="0" y="0"/>
            <a:chExt cx="812800" cy="869819"/>
          </a:xfrm>
        </p:grpSpPr>
        <p:sp>
          <p:nvSpPr>
            <p:cNvPr id="21" name="Freeform 21">
              <a:extLst>
                <a:ext uri="{FF2B5EF4-FFF2-40B4-BE49-F238E27FC236}">
                  <a16:creationId xmlns:a16="http://schemas.microsoft.com/office/drawing/2014/main" id="{79BBD4AC-2DDF-FB96-7787-929047BD400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a:extLst>
                <a:ext uri="{FF2B5EF4-FFF2-40B4-BE49-F238E27FC236}">
                  <a16:creationId xmlns:a16="http://schemas.microsoft.com/office/drawing/2014/main" id="{C1D136D6-AFDB-2D27-68F0-99DB3C660BA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a:extLst>
              <a:ext uri="{FF2B5EF4-FFF2-40B4-BE49-F238E27FC236}">
                <a16:creationId xmlns:a16="http://schemas.microsoft.com/office/drawing/2014/main" id="{4E85C4C2-7DD1-210E-EE22-F446F7407D5D}"/>
              </a:ext>
            </a:extLst>
          </p:cNvPr>
          <p:cNvGrpSpPr/>
          <p:nvPr/>
        </p:nvGrpSpPr>
        <p:grpSpPr>
          <a:xfrm>
            <a:off x="951509" y="5764584"/>
            <a:ext cx="508158" cy="543805"/>
            <a:chOff x="0" y="0"/>
            <a:chExt cx="812800" cy="869819"/>
          </a:xfrm>
        </p:grpSpPr>
        <p:sp>
          <p:nvSpPr>
            <p:cNvPr id="24" name="Freeform 24">
              <a:extLst>
                <a:ext uri="{FF2B5EF4-FFF2-40B4-BE49-F238E27FC236}">
                  <a16:creationId xmlns:a16="http://schemas.microsoft.com/office/drawing/2014/main" id="{6802694F-EBFA-3A82-740F-E9779A5C6B2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a:extLst>
                <a:ext uri="{FF2B5EF4-FFF2-40B4-BE49-F238E27FC236}">
                  <a16:creationId xmlns:a16="http://schemas.microsoft.com/office/drawing/2014/main" id="{CA8B886D-ED10-5548-3C5B-BD28307BD3B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a:extLst>
              <a:ext uri="{FF2B5EF4-FFF2-40B4-BE49-F238E27FC236}">
                <a16:creationId xmlns:a16="http://schemas.microsoft.com/office/drawing/2014/main" id="{D3DD7764-7069-B3F5-48AE-961D9FE685A8}"/>
              </a:ext>
            </a:extLst>
          </p:cNvPr>
          <p:cNvGrpSpPr/>
          <p:nvPr/>
        </p:nvGrpSpPr>
        <p:grpSpPr>
          <a:xfrm>
            <a:off x="951509" y="7088453"/>
            <a:ext cx="508158" cy="543805"/>
            <a:chOff x="0" y="0"/>
            <a:chExt cx="812800" cy="869819"/>
          </a:xfrm>
        </p:grpSpPr>
        <p:sp>
          <p:nvSpPr>
            <p:cNvPr id="27" name="Freeform 27">
              <a:extLst>
                <a:ext uri="{FF2B5EF4-FFF2-40B4-BE49-F238E27FC236}">
                  <a16:creationId xmlns:a16="http://schemas.microsoft.com/office/drawing/2014/main" id="{B51BFD83-AFFB-939D-5903-92F80B594FC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a:extLst>
                <a:ext uri="{FF2B5EF4-FFF2-40B4-BE49-F238E27FC236}">
                  <a16:creationId xmlns:a16="http://schemas.microsoft.com/office/drawing/2014/main" id="{570212AF-114D-6A33-ACA3-2BBCCEDAEBD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a:extLst>
              <a:ext uri="{FF2B5EF4-FFF2-40B4-BE49-F238E27FC236}">
                <a16:creationId xmlns:a16="http://schemas.microsoft.com/office/drawing/2014/main" id="{5D7CEDB5-6CED-4BCC-0224-1DC91C822207}"/>
              </a:ext>
            </a:extLst>
          </p:cNvPr>
          <p:cNvGrpSpPr/>
          <p:nvPr/>
        </p:nvGrpSpPr>
        <p:grpSpPr>
          <a:xfrm>
            <a:off x="951509" y="7756083"/>
            <a:ext cx="508158" cy="543805"/>
            <a:chOff x="0" y="0"/>
            <a:chExt cx="812800" cy="869819"/>
          </a:xfrm>
        </p:grpSpPr>
        <p:sp>
          <p:nvSpPr>
            <p:cNvPr id="30" name="Freeform 30">
              <a:extLst>
                <a:ext uri="{FF2B5EF4-FFF2-40B4-BE49-F238E27FC236}">
                  <a16:creationId xmlns:a16="http://schemas.microsoft.com/office/drawing/2014/main" id="{4C2CAC66-463C-42DA-F2F3-6757C2FC554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a:extLst>
                <a:ext uri="{FF2B5EF4-FFF2-40B4-BE49-F238E27FC236}">
                  <a16:creationId xmlns:a16="http://schemas.microsoft.com/office/drawing/2014/main" id="{45CAD2CE-3358-B11D-F6B6-B9F6B75B3E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a:extLst>
              <a:ext uri="{FF2B5EF4-FFF2-40B4-BE49-F238E27FC236}">
                <a16:creationId xmlns:a16="http://schemas.microsoft.com/office/drawing/2014/main" id="{1B8B8A67-9814-9D37-B4FB-6E12FD429C33}"/>
              </a:ext>
            </a:extLst>
          </p:cNvPr>
          <p:cNvGrpSpPr/>
          <p:nvPr/>
        </p:nvGrpSpPr>
        <p:grpSpPr>
          <a:xfrm>
            <a:off x="11762088" y="-9632634"/>
            <a:ext cx="10994424" cy="10994424"/>
            <a:chOff x="0" y="0"/>
            <a:chExt cx="812800" cy="812800"/>
          </a:xfrm>
        </p:grpSpPr>
        <p:sp>
          <p:nvSpPr>
            <p:cNvPr id="38" name="Freeform 38">
              <a:extLst>
                <a:ext uri="{FF2B5EF4-FFF2-40B4-BE49-F238E27FC236}">
                  <a16:creationId xmlns:a16="http://schemas.microsoft.com/office/drawing/2014/main" id="{E97933CF-65B2-A6D1-BF60-EC23BF718CB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a:extLst>
                <a:ext uri="{FF2B5EF4-FFF2-40B4-BE49-F238E27FC236}">
                  <a16:creationId xmlns:a16="http://schemas.microsoft.com/office/drawing/2014/main" id="{FD348208-75EF-DC81-1C7D-B3C6194EB3EC}"/>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2" name="TextBox 41">
            <a:extLst>
              <a:ext uri="{FF2B5EF4-FFF2-40B4-BE49-F238E27FC236}">
                <a16:creationId xmlns:a16="http://schemas.microsoft.com/office/drawing/2014/main" id="{E9930A7A-C3E9-4D0C-E9F8-4D7D9A19D697}"/>
              </a:ext>
            </a:extLst>
          </p:cNvPr>
          <p:cNvSpPr txBox="1"/>
          <p:nvPr/>
        </p:nvSpPr>
        <p:spPr>
          <a:xfrm>
            <a:off x="0" y="486639"/>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ED24A0DC-2B7B-BB94-E8F7-EA7299372C8B}"/>
              </a:ext>
            </a:extLst>
          </p:cNvPr>
          <p:cNvSpPr txBox="1"/>
          <p:nvPr/>
        </p:nvSpPr>
        <p:spPr>
          <a:xfrm>
            <a:off x="2176975" y="1808833"/>
            <a:ext cx="15082325" cy="5693866"/>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4" name="TextBox 3">
            <a:extLst>
              <a:ext uri="{FF2B5EF4-FFF2-40B4-BE49-F238E27FC236}">
                <a16:creationId xmlns:a16="http://schemas.microsoft.com/office/drawing/2014/main" id="{19A1E100-7983-EC3C-5F6E-35C48E89B235}"/>
              </a:ext>
            </a:extLst>
          </p:cNvPr>
          <p:cNvSpPr txBox="1"/>
          <p:nvPr/>
        </p:nvSpPr>
        <p:spPr>
          <a:xfrm>
            <a:off x="2895600" y="1970763"/>
            <a:ext cx="11511116" cy="7309693"/>
          </a:xfrm>
          <a:prstGeom prst="rect">
            <a:avLst/>
          </a:prstGeom>
          <a:noFill/>
        </p:spPr>
        <p:txBody>
          <a:bodyPr wrap="square">
            <a:spAutoFit/>
          </a:bodyPr>
          <a:lstStyle/>
          <a:p>
            <a:pPr algn="l">
              <a:spcBef>
                <a:spcPts val="600"/>
              </a:spcBef>
              <a:spcAft>
                <a:spcPts val="600"/>
              </a:spcAft>
              <a:buFont typeface="+mj-lt"/>
              <a:buAutoNum type="arabicPeriod"/>
            </a:pPr>
            <a:r>
              <a:rPr lang="en-IN" sz="2400" b="1" i="0" dirty="0">
                <a:solidFill>
                  <a:srgbClr val="24292F"/>
                </a:solidFill>
                <a:effectLst/>
                <a:latin typeface="Times New Roman" panose="02020603050405020304" pitchFamily="18" charset="0"/>
                <a:cs typeface="Times New Roman" panose="02020603050405020304" pitchFamily="18" charset="0"/>
              </a:rPr>
              <a:t>Inputs</a:t>
            </a:r>
            <a:r>
              <a:rPr lang="en-IN" sz="2400" b="0" i="0" dirty="0">
                <a:solidFill>
                  <a:srgbClr val="24292F"/>
                </a:solidFill>
                <a:effectLst/>
                <a:latin typeface="Times New Roman" panose="02020603050405020304" pitchFamily="18" charset="0"/>
                <a:cs typeface="Times New Roman" panose="02020603050405020304" pitchFamily="18" charset="0"/>
              </a:rPr>
              <a:t> (User-facing forms):</a:t>
            </a:r>
          </a:p>
          <a:p>
            <a:pPr marL="742950" lvl="1" indent="-285750" algn="l">
              <a:spcAft>
                <a:spcPts val="600"/>
              </a:spcAft>
              <a:buFont typeface="+mj-lt"/>
              <a:buAutoNum type="arabicPeriod"/>
            </a:pPr>
            <a:r>
              <a:rPr lang="en-IN" sz="2400" b="0" i="0" dirty="0">
                <a:solidFill>
                  <a:srgbClr val="24292F"/>
                </a:solidFill>
                <a:effectLst/>
                <a:latin typeface="Times New Roman" panose="02020603050405020304" pitchFamily="18" charset="0"/>
                <a:cs typeface="Times New Roman" panose="02020603050405020304" pitchFamily="18" charset="0"/>
              </a:rPr>
              <a:t>Event Details Form</a:t>
            </a:r>
          </a:p>
          <a:p>
            <a:pPr marL="742950" lvl="1" indent="-285750" algn="l">
              <a:spcAft>
                <a:spcPts val="600"/>
              </a:spcAft>
              <a:buFont typeface="+mj-lt"/>
              <a:buAutoNum type="arabicPeriod"/>
            </a:pPr>
            <a:r>
              <a:rPr lang="en-IN" sz="2400" b="0" i="0" dirty="0">
                <a:solidFill>
                  <a:srgbClr val="24292F"/>
                </a:solidFill>
                <a:effectLst/>
                <a:latin typeface="Times New Roman" panose="02020603050405020304" pitchFamily="18" charset="0"/>
                <a:cs typeface="Times New Roman" panose="02020603050405020304" pitchFamily="18" charset="0"/>
              </a:rPr>
              <a:t>Booking Form</a:t>
            </a:r>
          </a:p>
          <a:p>
            <a:pPr algn="l">
              <a:spcBef>
                <a:spcPts val="600"/>
              </a:spcBef>
              <a:spcAft>
                <a:spcPts val="600"/>
              </a:spcAft>
              <a:buFont typeface="+mj-lt"/>
              <a:buAutoNum type="arabicPeriod"/>
            </a:pPr>
            <a:r>
              <a:rPr lang="en-IN" sz="2400" b="1" i="0" dirty="0">
                <a:solidFill>
                  <a:srgbClr val="24292F"/>
                </a:solidFill>
                <a:effectLst/>
                <a:latin typeface="Times New Roman" panose="02020603050405020304" pitchFamily="18" charset="0"/>
                <a:cs typeface="Times New Roman" panose="02020603050405020304" pitchFamily="18" charset="0"/>
              </a:rPr>
              <a:t>Storage</a:t>
            </a:r>
            <a:r>
              <a:rPr lang="en-IN" sz="2400" b="0" i="0" dirty="0">
                <a:solidFill>
                  <a:srgbClr val="24292F"/>
                </a:solidFill>
                <a:effectLst/>
                <a:latin typeface="Times New Roman" panose="02020603050405020304" pitchFamily="18" charset="0"/>
                <a:cs typeface="Times New Roman" panose="02020603050405020304" pitchFamily="18" charset="0"/>
              </a:rPr>
              <a:t>:</a:t>
            </a:r>
          </a:p>
          <a:p>
            <a:pPr marL="742950" lvl="1" indent="-285750" algn="l">
              <a:spcAft>
                <a:spcPts val="600"/>
              </a:spcAft>
              <a:buFont typeface="+mj-lt"/>
              <a:buAutoNum type="arabicPeriod"/>
            </a:pPr>
            <a:r>
              <a:rPr lang="en-IN" sz="2400" b="1" i="0" dirty="0">
                <a:solidFill>
                  <a:srgbClr val="24292F"/>
                </a:solidFill>
                <a:effectLst/>
                <a:latin typeface="Times New Roman" panose="02020603050405020304" pitchFamily="18" charset="0"/>
                <a:cs typeface="Times New Roman" panose="02020603050405020304" pitchFamily="18" charset="0"/>
              </a:rPr>
              <a:t>Local Storage</a:t>
            </a:r>
            <a:r>
              <a:rPr lang="en-IN" sz="2400" b="0" i="0" dirty="0">
                <a:solidFill>
                  <a:srgbClr val="24292F"/>
                </a:solidFill>
                <a:effectLst/>
                <a:latin typeface="Times New Roman" panose="02020603050405020304" pitchFamily="18" charset="0"/>
                <a:cs typeface="Times New Roman" panose="02020603050405020304" pitchFamily="18" charset="0"/>
              </a:rPr>
              <a:t> (browser-based DB): Handles bookings, history, availability. No backend/server shown.</a:t>
            </a:r>
          </a:p>
          <a:p>
            <a:pPr algn="l">
              <a:spcBef>
                <a:spcPts val="600"/>
              </a:spcBef>
              <a:spcAft>
                <a:spcPts val="600"/>
              </a:spcAft>
              <a:buFont typeface="+mj-lt"/>
              <a:buAutoNum type="arabicPeriod"/>
            </a:pPr>
            <a:r>
              <a:rPr lang="en-IN" sz="2400" b="1" i="0" dirty="0">
                <a:solidFill>
                  <a:srgbClr val="24292F"/>
                </a:solidFill>
                <a:effectLst/>
                <a:latin typeface="Times New Roman" panose="02020603050405020304" pitchFamily="18" charset="0"/>
                <a:cs typeface="Times New Roman" panose="02020603050405020304" pitchFamily="18" charset="0"/>
              </a:rPr>
              <a:t>Outputs</a:t>
            </a:r>
            <a:r>
              <a:rPr lang="en-IN" sz="2400" b="0" i="0" dirty="0">
                <a:solidFill>
                  <a:srgbClr val="24292F"/>
                </a:solidFill>
                <a:effectLst/>
                <a:latin typeface="Times New Roman" panose="02020603050405020304" pitchFamily="18" charset="0"/>
                <a:cs typeface="Times New Roman" panose="02020603050405020304" pitchFamily="18" charset="0"/>
              </a:rPr>
              <a:t>:</a:t>
            </a:r>
          </a:p>
          <a:p>
            <a:pPr marL="742950" lvl="1" indent="-285750" algn="l">
              <a:spcAft>
                <a:spcPts val="600"/>
              </a:spcAft>
              <a:buFont typeface="+mj-lt"/>
              <a:buAutoNum type="arabicPeriod"/>
            </a:pPr>
            <a:r>
              <a:rPr lang="en-IN" sz="2400" b="0" i="0" dirty="0">
                <a:solidFill>
                  <a:srgbClr val="24292F"/>
                </a:solidFill>
                <a:effectLst/>
                <a:latin typeface="Times New Roman" panose="02020603050405020304" pitchFamily="18" charset="0"/>
                <a:cs typeface="Times New Roman" panose="02020603050405020304" pitchFamily="18" charset="0"/>
              </a:rPr>
              <a:t>Booking Confirmation</a:t>
            </a:r>
          </a:p>
          <a:p>
            <a:pPr marL="742950" lvl="1" indent="-285750" algn="l">
              <a:spcAft>
                <a:spcPts val="600"/>
              </a:spcAft>
              <a:buFont typeface="+mj-lt"/>
              <a:buAutoNum type="arabicPeriod"/>
            </a:pPr>
            <a:r>
              <a:rPr lang="en-IN" sz="2400" b="0" i="0" dirty="0">
                <a:solidFill>
                  <a:srgbClr val="24292F"/>
                </a:solidFill>
                <a:effectLst/>
                <a:latin typeface="Times New Roman" panose="02020603050405020304" pitchFamily="18" charset="0"/>
                <a:cs typeface="Times New Roman" panose="02020603050405020304" pitchFamily="18" charset="0"/>
              </a:rPr>
              <a:t>Booking Summary</a:t>
            </a:r>
          </a:p>
          <a:p>
            <a:pPr marL="742950" lvl="1" indent="-285750" algn="l">
              <a:spcAft>
                <a:spcPts val="600"/>
              </a:spcAft>
              <a:buFont typeface="+mj-lt"/>
              <a:buAutoNum type="arabicPeriod"/>
            </a:pPr>
            <a:r>
              <a:rPr lang="en-IN" sz="2400" b="0" i="0" dirty="0">
                <a:solidFill>
                  <a:srgbClr val="24292F"/>
                </a:solidFill>
                <a:effectLst/>
                <a:latin typeface="Times New Roman" panose="02020603050405020304" pitchFamily="18" charset="0"/>
                <a:cs typeface="Times New Roman" panose="02020603050405020304" pitchFamily="18" charset="0"/>
              </a:rPr>
              <a:t>Booking History</a:t>
            </a:r>
          </a:p>
          <a:p>
            <a:pPr algn="l">
              <a:spcBef>
                <a:spcPts val="600"/>
              </a:spcBef>
              <a:spcAft>
                <a:spcPts val="600"/>
              </a:spcAft>
              <a:buFont typeface="+mj-lt"/>
              <a:buAutoNum type="arabicPeriod"/>
            </a:pPr>
            <a:r>
              <a:rPr lang="en-IN" sz="2400" b="1" i="0" dirty="0">
                <a:solidFill>
                  <a:srgbClr val="24292F"/>
                </a:solidFill>
                <a:effectLst/>
                <a:latin typeface="Times New Roman" panose="02020603050405020304" pitchFamily="18" charset="0"/>
                <a:cs typeface="Times New Roman" panose="02020603050405020304" pitchFamily="18" charset="0"/>
              </a:rPr>
              <a:t>React JS Core Logic</a:t>
            </a:r>
            <a:r>
              <a:rPr lang="en-IN" sz="2400" b="0" i="0" dirty="0">
                <a:solidFill>
                  <a:srgbClr val="24292F"/>
                </a:solidFill>
                <a:effectLst/>
                <a:latin typeface="Times New Roman" panose="02020603050405020304" pitchFamily="18" charset="0"/>
                <a:cs typeface="Times New Roman" panose="02020603050405020304" pitchFamily="18" charset="0"/>
              </a:rPr>
              <a:t>:</a:t>
            </a:r>
          </a:p>
          <a:p>
            <a:pPr marL="742950" lvl="1" indent="-285750" algn="l">
              <a:spcAft>
                <a:spcPts val="600"/>
              </a:spcAft>
              <a:buFont typeface="+mj-lt"/>
              <a:buAutoNum type="arabicPeriod"/>
            </a:pPr>
            <a:r>
              <a:rPr lang="en-IN" sz="2400" b="1" i="0" dirty="0">
                <a:solidFill>
                  <a:srgbClr val="24292F"/>
                </a:solidFill>
                <a:effectLst/>
                <a:latin typeface="Times New Roman" panose="02020603050405020304" pitchFamily="18" charset="0"/>
                <a:cs typeface="Times New Roman" panose="02020603050405020304" pitchFamily="18" charset="0"/>
              </a:rPr>
              <a:t>Validate Inputs</a:t>
            </a:r>
            <a:r>
              <a:rPr lang="en-IN" sz="2400" b="0" i="0" dirty="0">
                <a:solidFill>
                  <a:srgbClr val="24292F"/>
                </a:solidFill>
                <a:effectLst/>
                <a:latin typeface="Times New Roman" panose="02020603050405020304" pitchFamily="18" charset="0"/>
                <a:cs typeface="Times New Roman" panose="02020603050405020304" pitchFamily="18" charset="0"/>
              </a:rPr>
              <a:t>: Checks form data (e.g., required fields, dates, quantities).</a:t>
            </a:r>
          </a:p>
          <a:p>
            <a:pPr marL="742950" lvl="1" indent="-285750" algn="l">
              <a:spcAft>
                <a:spcPts val="600"/>
              </a:spcAft>
              <a:buFont typeface="+mj-lt"/>
              <a:buAutoNum type="arabicPeriod"/>
            </a:pPr>
            <a:r>
              <a:rPr lang="en-IN" sz="2400" b="1" i="0" dirty="0">
                <a:solidFill>
                  <a:srgbClr val="24292F"/>
                </a:solidFill>
                <a:effectLst/>
                <a:latin typeface="Times New Roman" panose="02020603050405020304" pitchFamily="18" charset="0"/>
                <a:cs typeface="Times New Roman" panose="02020603050405020304" pitchFamily="18" charset="0"/>
              </a:rPr>
              <a:t>Calculate Total Cost</a:t>
            </a:r>
            <a:r>
              <a:rPr lang="en-IN" sz="2400" b="0" i="0" dirty="0">
                <a:solidFill>
                  <a:srgbClr val="24292F"/>
                </a:solidFill>
                <a:effectLst/>
                <a:latin typeface="Times New Roman" panose="02020603050405020304" pitchFamily="18" charset="0"/>
                <a:cs typeface="Times New Roman" panose="02020603050405020304" pitchFamily="18" charset="0"/>
              </a:rPr>
              <a:t>: Computes price based on tickets, fees, etc.</a:t>
            </a:r>
          </a:p>
          <a:p>
            <a:pPr marL="742950" lvl="1" indent="-285750" algn="l">
              <a:spcAft>
                <a:spcPts val="600"/>
              </a:spcAft>
              <a:buFont typeface="+mj-lt"/>
              <a:buAutoNum type="arabicPeriod"/>
            </a:pPr>
            <a:r>
              <a:rPr lang="en-IN" sz="2400" b="1" i="0" dirty="0">
                <a:solidFill>
                  <a:srgbClr val="24292F"/>
                </a:solidFill>
                <a:effectLst/>
                <a:latin typeface="Times New Roman" panose="02020603050405020304" pitchFamily="18" charset="0"/>
                <a:cs typeface="Times New Roman" panose="02020603050405020304" pitchFamily="18" charset="0"/>
              </a:rPr>
              <a:t>Generate Booking Summary</a:t>
            </a:r>
            <a:r>
              <a:rPr lang="en-IN" sz="2400" b="0" i="0" dirty="0">
                <a:solidFill>
                  <a:srgbClr val="24292F"/>
                </a:solidFill>
                <a:effectLst/>
                <a:latin typeface="Times New Roman" panose="02020603050405020304" pitchFamily="18" charset="0"/>
                <a:cs typeface="Times New Roman" panose="02020603050405020304" pitchFamily="18" charset="0"/>
              </a:rPr>
              <a:t>: Creates a preview/summary.</a:t>
            </a:r>
          </a:p>
          <a:p>
            <a:pPr marL="742950" lvl="1" indent="-285750" algn="l">
              <a:spcAft>
                <a:spcPts val="600"/>
              </a:spcAft>
              <a:buFont typeface="+mj-lt"/>
              <a:buAutoNum type="arabicPeriod"/>
            </a:pPr>
            <a:r>
              <a:rPr lang="en-IN" sz="2400" b="1" i="0" dirty="0">
                <a:solidFill>
                  <a:srgbClr val="24292F"/>
                </a:solidFill>
                <a:effectLst/>
                <a:latin typeface="Times New Roman" panose="02020603050405020304" pitchFamily="18" charset="0"/>
                <a:cs typeface="Times New Roman" panose="02020603050405020304" pitchFamily="18" charset="0"/>
              </a:rPr>
              <a:t>Store Booking Details</a:t>
            </a:r>
            <a:r>
              <a:rPr lang="en-IN" sz="2400" b="0" i="0" dirty="0">
                <a:solidFill>
                  <a:srgbClr val="24292F"/>
                </a:solidFill>
                <a:effectLst/>
                <a:latin typeface="Times New Roman" panose="02020603050405020304" pitchFamily="18" charset="0"/>
                <a:cs typeface="Times New Roman" panose="02020603050405020304" pitchFamily="18" charset="0"/>
              </a:rPr>
              <a:t>: Saves to local storage.</a:t>
            </a:r>
          </a:p>
          <a:p>
            <a:pPr marL="742950" lvl="1" indent="-285750" algn="l">
              <a:spcAft>
                <a:spcPts val="600"/>
              </a:spcAft>
              <a:buFont typeface="+mj-lt"/>
              <a:buAutoNum type="arabicPeriod"/>
            </a:pPr>
            <a:r>
              <a:rPr lang="en-IN" sz="2400" b="0" i="0" dirty="0">
                <a:solidFill>
                  <a:srgbClr val="24292F"/>
                </a:solidFill>
                <a:effectLst/>
                <a:latin typeface="Times New Roman" panose="02020603050405020304" pitchFamily="18" charset="0"/>
                <a:cs typeface="Times New Roman" panose="02020603050405020304" pitchFamily="18" charset="0"/>
              </a:rPr>
              <a:t>Ticket Availability Update</a:t>
            </a:r>
          </a:p>
        </p:txBody>
      </p:sp>
    </p:spTree>
    <p:extLst>
      <p:ext uri="{BB962C8B-B14F-4D97-AF65-F5344CB8AC3E}">
        <p14:creationId xmlns:p14="http://schemas.microsoft.com/office/powerpoint/2010/main" val="23249014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58115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2209800" y="1638300"/>
            <a:ext cx="15082325" cy="3970318"/>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grpSp>
        <p:nvGrpSpPr>
          <p:cNvPr id="2" name="Group 37">
            <a:extLst>
              <a:ext uri="{FF2B5EF4-FFF2-40B4-BE49-F238E27FC236}">
                <a16:creationId xmlns:a16="http://schemas.microsoft.com/office/drawing/2014/main" id="{5FF0B2D0-7843-1835-7081-F69B51BDD5B8}"/>
              </a:ext>
            </a:extLst>
          </p:cNvPr>
          <p:cNvGrpSpPr/>
          <p:nvPr/>
        </p:nvGrpSpPr>
        <p:grpSpPr>
          <a:xfrm>
            <a:off x="14020800" y="-8142801"/>
            <a:ext cx="10994424" cy="10994424"/>
            <a:chOff x="0" y="0"/>
            <a:chExt cx="812800" cy="812800"/>
          </a:xfrm>
        </p:grpSpPr>
        <p:sp>
          <p:nvSpPr>
            <p:cNvPr id="3" name="Freeform 38">
              <a:extLst>
                <a:ext uri="{FF2B5EF4-FFF2-40B4-BE49-F238E27FC236}">
                  <a16:creationId xmlns:a16="http://schemas.microsoft.com/office/drawing/2014/main" id="{1E43E843-CEEF-9B58-BAB6-E0FEFB947A9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4" name="TextBox 39">
              <a:extLst>
                <a:ext uri="{FF2B5EF4-FFF2-40B4-BE49-F238E27FC236}">
                  <a16:creationId xmlns:a16="http://schemas.microsoft.com/office/drawing/2014/main" id="{B7A3D907-9F7C-D8D3-DE54-E07FC037F8CA}"/>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5" name="Picture 4">
            <a:extLst>
              <a:ext uri="{FF2B5EF4-FFF2-40B4-BE49-F238E27FC236}">
                <a16:creationId xmlns:a16="http://schemas.microsoft.com/office/drawing/2014/main" id="{4DB8727B-A691-13F1-30DE-BD871CBB87A9}"/>
              </a:ext>
            </a:extLst>
          </p:cNvPr>
          <p:cNvPicPr>
            <a:picLocks noChangeAspect="1"/>
          </p:cNvPicPr>
          <p:nvPr/>
        </p:nvPicPr>
        <p:blipFill>
          <a:blip r:embed="rId2"/>
          <a:stretch>
            <a:fillRect/>
          </a:stretch>
        </p:blipFill>
        <p:spPr>
          <a:xfrm>
            <a:off x="6629400" y="1365344"/>
            <a:ext cx="5638800" cy="847222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6764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209800" y="1638300"/>
            <a:ext cx="15082325" cy="11418510"/>
          </a:xfrm>
          <a:prstGeom prst="rect">
            <a:avLst/>
          </a:prstGeom>
          <a:noFill/>
        </p:spPr>
        <p:txBody>
          <a:bodyPr wrap="square" rtlCol="0">
            <a:spAutoFit/>
          </a:bodyPr>
          <a:lstStyle/>
          <a:p>
            <a:pPr marL="457200" indent="-457200">
              <a:buFontTx/>
              <a:buChar char="-"/>
            </a:pPr>
            <a:endParaRPr lang="en-US" sz="2800" dirty="0"/>
          </a:p>
          <a:p>
            <a:endParaRPr lang="en-US" sz="2800" dirty="0"/>
          </a:p>
          <a:p>
            <a:r>
              <a:rPr lang="en-IN" sz="2400" b="1" dirty="0">
                <a:latin typeface="Times New Roman" panose="02020603050405020304" pitchFamily="18" charset="0"/>
                <a:cs typeface="Times New Roman" panose="02020603050405020304" pitchFamily="18" charset="0"/>
              </a:rPr>
              <a:t>Frontend:</a:t>
            </a:r>
            <a:r>
              <a:rPr lang="en-IN" sz="2400" dirty="0">
                <a:latin typeface="Times New Roman" panose="02020603050405020304" pitchFamily="18" charset="0"/>
                <a:cs typeface="Times New Roman" panose="02020603050405020304" pitchFamily="18" charset="0"/>
              </a:rPr>
              <a:t> React JS, HTML5, CSS3, JavaScript (ES6)</a:t>
            </a:r>
          </a:p>
          <a:p>
            <a:endParaRPr lang="en-IN" sz="2400"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Backend:</a:t>
            </a:r>
            <a:r>
              <a:rPr lang="en-IN" sz="2400" dirty="0">
                <a:latin typeface="Times New Roman" panose="02020603050405020304" pitchFamily="18" charset="0"/>
                <a:cs typeface="Times New Roman" panose="02020603050405020304" pitchFamily="18" charset="0"/>
              </a:rPr>
              <a:t> No separate backend used (Frontend-based application)</a:t>
            </a:r>
          </a:p>
          <a:p>
            <a:endParaRPr lang="en-IN" sz="2400"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Database:</a:t>
            </a:r>
            <a:r>
              <a:rPr lang="en-IN" sz="2400" dirty="0">
                <a:latin typeface="Times New Roman" panose="02020603050405020304" pitchFamily="18" charset="0"/>
                <a:cs typeface="Times New Roman" panose="02020603050405020304" pitchFamily="18" charset="0"/>
              </a:rPr>
              <a:t> Browser Local Storage</a:t>
            </a:r>
          </a:p>
          <a:p>
            <a:endParaRPr lang="en-IN" sz="2400"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Third-Party API:</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EmailJS</a:t>
            </a:r>
            <a:r>
              <a:rPr lang="en-IN" sz="2400" dirty="0">
                <a:latin typeface="Times New Roman" panose="02020603050405020304" pitchFamily="18" charset="0"/>
                <a:cs typeface="Times New Roman" panose="02020603050405020304" pitchFamily="18" charset="0"/>
              </a:rPr>
              <a:t> (for booking confirmation emails)</a:t>
            </a:r>
          </a:p>
          <a:p>
            <a:endParaRPr lang="en-IN" sz="2400"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Tools:</a:t>
            </a:r>
            <a:r>
              <a:rPr lang="en-IN" sz="2400" dirty="0">
                <a:latin typeface="Times New Roman" panose="02020603050405020304" pitchFamily="18" charset="0"/>
                <a:cs typeface="Times New Roman" panose="02020603050405020304" pitchFamily="18" charset="0"/>
              </a:rPr>
              <a:t> Visual Studio Code, Node.js, </a:t>
            </a:r>
            <a:r>
              <a:rPr lang="en-IN" sz="2400" dirty="0" err="1">
                <a:latin typeface="Times New Roman" panose="02020603050405020304" pitchFamily="18" charset="0"/>
                <a:cs typeface="Times New Roman" panose="02020603050405020304" pitchFamily="18" charset="0"/>
              </a:rPr>
              <a:t>npm</a:t>
            </a:r>
            <a:r>
              <a:rPr lang="en-IN" sz="2400" dirty="0">
                <a:latin typeface="Times New Roman" panose="02020603050405020304" pitchFamily="18" charset="0"/>
                <a:cs typeface="Times New Roman" panose="02020603050405020304" pitchFamily="18" charset="0"/>
              </a:rPr>
              <a:t>, Google Chrome</a:t>
            </a:r>
          </a:p>
          <a:p>
            <a:endParaRPr lang="en-IN" sz="2400"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Hardware/Software Requirements:</a:t>
            </a:r>
            <a:r>
              <a:rPr lang="en-IN" sz="2400" dirty="0">
                <a:latin typeface="Times New Roman" panose="02020603050405020304" pitchFamily="18" charset="0"/>
                <a:cs typeface="Times New Roman" panose="02020603050405020304" pitchFamily="18" charset="0"/>
              </a:rPr>
              <a:t> Windows 10/11, Minimum 4 GB RAM, Intel i3 Processor or above, Internet Browser, Node.js Installed System</a:t>
            </a:r>
          </a:p>
          <a:p>
            <a:br>
              <a:rPr lang="en-IN" sz="2800" dirty="0"/>
            </a:b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grpSp>
        <p:nvGrpSpPr>
          <p:cNvPr id="2" name="Group 37">
            <a:extLst>
              <a:ext uri="{FF2B5EF4-FFF2-40B4-BE49-F238E27FC236}">
                <a16:creationId xmlns:a16="http://schemas.microsoft.com/office/drawing/2014/main" id="{4D847D41-4470-420F-942D-93587F92804D}"/>
              </a:ext>
            </a:extLst>
          </p:cNvPr>
          <p:cNvGrpSpPr/>
          <p:nvPr/>
        </p:nvGrpSpPr>
        <p:grpSpPr>
          <a:xfrm>
            <a:off x="14401800" y="-2955537"/>
            <a:ext cx="10994424" cy="10994424"/>
            <a:chOff x="0" y="0"/>
            <a:chExt cx="812800" cy="812800"/>
          </a:xfrm>
        </p:grpSpPr>
        <p:sp>
          <p:nvSpPr>
            <p:cNvPr id="3" name="Freeform 38">
              <a:extLst>
                <a:ext uri="{FF2B5EF4-FFF2-40B4-BE49-F238E27FC236}">
                  <a16:creationId xmlns:a16="http://schemas.microsoft.com/office/drawing/2014/main" id="{A4FD480D-1445-2C4B-DB46-82271E5DF7B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4" name="TextBox 39">
              <a:extLst>
                <a:ext uri="{FF2B5EF4-FFF2-40B4-BE49-F238E27FC236}">
                  <a16:creationId xmlns:a16="http://schemas.microsoft.com/office/drawing/2014/main" id="{26A1CA4A-B4D1-F4E6-0933-879F4CA7F8FA}"/>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56972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209800" y="1638300"/>
            <a:ext cx="15082325" cy="7848302"/>
          </a:xfrm>
          <a:prstGeom prst="rect">
            <a:avLst/>
          </a:prstGeom>
          <a:noFill/>
        </p:spPr>
        <p:txBody>
          <a:bodyPr wrap="square" rtlCol="0">
            <a:spAutoFit/>
          </a:bodyPr>
          <a:lstStyle/>
          <a:p>
            <a:endParaRPr lang="en-US" b="1" dirty="0"/>
          </a:p>
          <a:p>
            <a:endParaRPr lang="en-US" b="1" dirty="0"/>
          </a:p>
          <a:p>
            <a:endParaRPr lang="en-US" b="1" dirty="0"/>
          </a:p>
          <a:p>
            <a:r>
              <a:rPr lang="en-US" sz="2400" b="1" dirty="0">
                <a:latin typeface="Times New Roman" panose="02020603050405020304" pitchFamily="18" charset="0"/>
                <a:cs typeface="Times New Roman" panose="02020603050405020304" pitchFamily="18" charset="0"/>
              </a:rPr>
              <a:t>Module 1: Event Details Management</a:t>
            </a:r>
          </a:p>
          <a:p>
            <a:r>
              <a:rPr lang="en-US" sz="2400" dirty="0">
                <a:latin typeface="Times New Roman" panose="02020603050405020304" pitchFamily="18" charset="0"/>
                <a:cs typeface="Times New Roman" panose="02020603050405020304" pitchFamily="18" charset="0"/>
              </a:rPr>
              <a:t>Handles displaying event information such as event name, department, venue, date, ticket price, and available tickets for users.</a:t>
            </a:r>
          </a:p>
          <a:p>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 Module 2: Ticket Booking Processing</a:t>
            </a:r>
          </a:p>
          <a:p>
            <a:r>
              <a:rPr lang="en-US" sz="2400" dirty="0">
                <a:latin typeface="Times New Roman" panose="02020603050405020304" pitchFamily="18" charset="0"/>
                <a:cs typeface="Times New Roman" panose="02020603050405020304" pitchFamily="18" charset="0"/>
              </a:rPr>
              <a:t>Implements the core booking functionality by collecting user details, validating inputs, checking ticket availability, and processing bookings.</a:t>
            </a:r>
          </a:p>
          <a:p>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 Module 3: Booking Storage Management</a:t>
            </a:r>
          </a:p>
          <a:p>
            <a:r>
              <a:rPr lang="en-US" sz="2400" dirty="0">
                <a:latin typeface="Times New Roman" panose="02020603050405020304" pitchFamily="18" charset="0"/>
                <a:cs typeface="Times New Roman" panose="02020603050405020304" pitchFamily="18" charset="0"/>
              </a:rPr>
              <a:t>Manages storing and retrieving booking details using browser local storage and maintains booking history efficiently.</a:t>
            </a:r>
          </a:p>
          <a:p>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 Module 4: Email Confirmation &amp; Validation</a:t>
            </a:r>
          </a:p>
          <a:p>
            <a:r>
              <a:rPr lang="en-US" sz="2400" dirty="0">
                <a:latin typeface="Times New Roman" panose="02020603050405020304" pitchFamily="18" charset="0"/>
                <a:cs typeface="Times New Roman" panose="02020603050405020304" pitchFamily="18" charset="0"/>
              </a:rPr>
              <a:t>Handles input validation, displays user-friendly error messages, and sends booking confirmation emails using </a:t>
            </a:r>
            <a:r>
              <a:rPr lang="en-US" sz="2400" dirty="0" err="1">
                <a:latin typeface="Times New Roman" panose="02020603050405020304" pitchFamily="18" charset="0"/>
                <a:cs typeface="Times New Roman" panose="02020603050405020304" pitchFamily="18" charset="0"/>
              </a:rPr>
              <a:t>EmailJS</a:t>
            </a:r>
            <a:r>
              <a:rPr lang="en-US" sz="2400" dirty="0">
                <a:latin typeface="Times New Roman" panose="02020603050405020304" pitchFamily="18" charset="0"/>
                <a:cs typeface="Times New Roman" panose="02020603050405020304" pitchFamily="18" charset="0"/>
              </a:rPr>
              <a:t> integration.</a:t>
            </a:r>
          </a:p>
          <a:p>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 Module 5: Booking Summary &amp; History</a:t>
            </a:r>
          </a:p>
          <a:p>
            <a:r>
              <a:rPr lang="en-US" sz="2400" dirty="0">
                <a:latin typeface="Times New Roman" panose="02020603050405020304" pitchFamily="18" charset="0"/>
                <a:cs typeface="Times New Roman" panose="02020603050405020304" pitchFamily="18" charset="0"/>
              </a:rPr>
              <a:t>Generates booking confirmation summary, displays booking details, and allows users to view or delete booking history records.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63068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746F2C30-13B1-3754-C147-D58A899BC459}"/>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5" name="Picture 4">
            <a:extLst>
              <a:ext uri="{FF2B5EF4-FFF2-40B4-BE49-F238E27FC236}">
                <a16:creationId xmlns:a16="http://schemas.microsoft.com/office/drawing/2014/main" id="{2B1A0BD3-B79F-7A41-3113-95F0F04EDB12}"/>
              </a:ext>
            </a:extLst>
          </p:cNvPr>
          <p:cNvPicPr>
            <a:picLocks noChangeAspect="1"/>
          </p:cNvPicPr>
          <p:nvPr/>
        </p:nvPicPr>
        <p:blipFill>
          <a:blip r:embed="rId2"/>
          <a:stretch>
            <a:fillRect/>
          </a:stretch>
        </p:blipFill>
        <p:spPr>
          <a:xfrm>
            <a:off x="2197369" y="1856051"/>
            <a:ext cx="14067361" cy="6397617"/>
          </a:xfrm>
          <a:prstGeom prst="rect">
            <a:avLst/>
          </a:prstGeom>
        </p:spPr>
      </p:pic>
      <p:sp>
        <p:nvSpPr>
          <p:cNvPr id="34" name="TextBox 33">
            <a:extLst>
              <a:ext uri="{FF2B5EF4-FFF2-40B4-BE49-F238E27FC236}">
                <a16:creationId xmlns:a16="http://schemas.microsoft.com/office/drawing/2014/main" id="{7089E398-F117-3124-C97F-C9BB832A65DF}"/>
              </a:ext>
            </a:extLst>
          </p:cNvPr>
          <p:cNvSpPr txBox="1"/>
          <p:nvPr/>
        </p:nvSpPr>
        <p:spPr>
          <a:xfrm>
            <a:off x="2241756" y="8941967"/>
            <a:ext cx="14217444" cy="830997"/>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This is an event booking page for Tech Fest 2026 showing details like date, venue, and price.</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Users can easily book tickets using the “Book Now” button.</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81187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5" name="Group 35">
            <a:extLst>
              <a:ext uri="{FF2B5EF4-FFF2-40B4-BE49-F238E27FC236}">
                <a16:creationId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57734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41A1FDE-E3AB-682A-64B7-DA145F23EB91}"/>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a:extLst>
              <a:ext uri="{FF2B5EF4-FFF2-40B4-BE49-F238E27FC236}">
                <a16:creationId xmlns:a16="http://schemas.microsoft.com/office/drawing/2014/main" id="{FD43C9EF-3118-A350-0808-36F16E5F012E}"/>
              </a:ext>
            </a:extLst>
          </p:cNvPr>
          <p:cNvPicPr>
            <a:picLocks noChangeAspect="1"/>
          </p:cNvPicPr>
          <p:nvPr/>
        </p:nvPicPr>
        <p:blipFill>
          <a:blip r:embed="rId2"/>
          <a:stretch>
            <a:fillRect/>
          </a:stretch>
        </p:blipFill>
        <p:spPr>
          <a:xfrm>
            <a:off x="2086459" y="1780929"/>
            <a:ext cx="14602462" cy="6761541"/>
          </a:xfrm>
          <a:prstGeom prst="rect">
            <a:avLst/>
          </a:prstGeom>
        </p:spPr>
      </p:pic>
      <p:sp>
        <p:nvSpPr>
          <p:cNvPr id="6" name="TextBox 5">
            <a:extLst>
              <a:ext uri="{FF2B5EF4-FFF2-40B4-BE49-F238E27FC236}">
                <a16:creationId xmlns:a16="http://schemas.microsoft.com/office/drawing/2014/main" id="{E398766E-5D9A-0DEE-F30B-0C0890A149D9}"/>
              </a:ext>
            </a:extLst>
          </p:cNvPr>
          <p:cNvSpPr txBox="1"/>
          <p:nvPr/>
        </p:nvSpPr>
        <p:spPr>
          <a:xfrm>
            <a:off x="2035278" y="9029700"/>
            <a:ext cx="14217444" cy="830997"/>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This is a ticket booking form where users enter details like name, email, department, and number of tickets.</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Users can confirm their booking or reset the form easily.</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48899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4F2BA-FD67-88B5-D00A-FB42DF0E42BE}"/>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E523E47-FF12-EB4F-CE4E-15E2BD90E35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0BF7AEA-D128-304C-183A-EB3077D12DC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5E5B44C9-58D3-B109-89D1-E8FFD2315F0E}"/>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74E56993-8907-140B-5665-32E2F0E72519}"/>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A11C3DB8-7383-8D70-BB09-1A750F2C0F8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C6851A8C-42BC-3992-679E-AF3EB93D8C8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7FC4CA35-A97E-BE99-FA00-97839403BA62}"/>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06C0D29F-FB0D-BB96-D4AE-A8C22A8CB3E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DFDBF821-9269-FB5A-0458-881A0E029C5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4DA79A4-C081-806C-6C3A-C91A9D054D41}"/>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5FDCDD9-077E-974D-5AC5-094EB0F0F9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0BD027CC-442F-A18F-1E78-2F68E60EBF6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D8743EF0-28DB-F432-0FD1-1CA6C5202E92}"/>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836A8DF1-B551-FE2A-F144-BEB434B06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561A89A0-58F9-057C-6EDE-74C4F5446F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AF53D3D6-9FBD-55E1-7943-DBF89C0B7FD9}"/>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7FF8775B-97DF-7420-5EFD-8EB72B3097B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6E0800F5-9605-6E15-B0D5-CC1C1DEF93A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56835700-6327-3DF6-F246-625A9BB811E4}"/>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C045791B-6506-76B9-2340-8EB2633D35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88D1A950-C54D-5AC4-4D6C-4E7E3BDFD21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976B9CD8-6827-A492-006D-876430D4A63E}"/>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DE122907-AE55-D4AB-0A97-62A51C31AE4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1A2A6DCC-7E15-52F6-783E-563DE4EDE04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1B6F1BAB-47A0-DD22-93AF-14EAB24A610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D7F4897-BA88-6C0E-DA58-A9E65DADA3C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567B0E0F-78E1-D4C5-BB5E-6866A52ABF0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5" name="Group 35">
            <a:extLst>
              <a:ext uri="{FF2B5EF4-FFF2-40B4-BE49-F238E27FC236}">
                <a16:creationId xmlns:a16="http://schemas.microsoft.com/office/drawing/2014/main" id="{CDA9535A-AF12-0C77-A819-68E316B95B01}"/>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B3566A7-7E62-ED9D-5F2B-3D6E594172E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3966596B-4DE4-21F6-F8EB-0B1F9C6C8A90}"/>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D65E6BB-7A3E-1F80-BE43-504A3408DC11}"/>
              </a:ext>
            </a:extLst>
          </p:cNvPr>
          <p:cNvSpPr txBox="1"/>
          <p:nvPr/>
        </p:nvSpPr>
        <p:spPr>
          <a:xfrm>
            <a:off x="152400" y="342900"/>
            <a:ext cx="15987543"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4CC6DFF-6FEB-8F4B-CAF5-E76C7611A2E6}"/>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2" name="TextBox 1">
            <a:extLst>
              <a:ext uri="{FF2B5EF4-FFF2-40B4-BE49-F238E27FC236}">
                <a16:creationId xmlns:a16="http://schemas.microsoft.com/office/drawing/2014/main" id="{A83177DF-34AF-881C-BCB8-8B1D28F88137}"/>
              </a:ext>
            </a:extLst>
          </p:cNvPr>
          <p:cNvSpPr txBox="1"/>
          <p:nvPr/>
        </p:nvSpPr>
        <p:spPr>
          <a:xfrm>
            <a:off x="2209800" y="1638300"/>
            <a:ext cx="15082325" cy="4832092"/>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a:extLst>
              <a:ext uri="{FF2B5EF4-FFF2-40B4-BE49-F238E27FC236}">
                <a16:creationId xmlns:a16="http://schemas.microsoft.com/office/drawing/2014/main" id="{212F8F49-A2EC-D902-E80F-3CC7E3D770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15803" y="1801840"/>
            <a:ext cx="14456393" cy="6683319"/>
          </a:xfrm>
          <a:prstGeom prst="rect">
            <a:avLst/>
          </a:prstGeom>
        </p:spPr>
      </p:pic>
      <p:sp>
        <p:nvSpPr>
          <p:cNvPr id="6" name="TextBox 5">
            <a:extLst>
              <a:ext uri="{FF2B5EF4-FFF2-40B4-BE49-F238E27FC236}">
                <a16:creationId xmlns:a16="http://schemas.microsoft.com/office/drawing/2014/main" id="{8C796352-4F7E-7C46-12B1-56F6ECECC129}"/>
              </a:ext>
            </a:extLst>
          </p:cNvPr>
          <p:cNvSpPr txBox="1"/>
          <p:nvPr/>
        </p:nvSpPr>
        <p:spPr>
          <a:xfrm>
            <a:off x="1915803" y="8953500"/>
            <a:ext cx="14217444" cy="830997"/>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This is a booking history page showing all the tickets booked by the user.</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Users can view details and delete any booking if needed.</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128510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5987543"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2209800" y="1638300"/>
            <a:ext cx="15082325" cy="5262979"/>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276174C6-5B43-37B7-48D8-B55A9E7B4671}"/>
              </a:ext>
            </a:extLst>
          </p:cNvPr>
          <p:cNvPicPr>
            <a:picLocks noChangeAspect="1"/>
          </p:cNvPicPr>
          <p:nvPr/>
        </p:nvPicPr>
        <p:blipFill>
          <a:blip r:embed="rId2"/>
          <a:stretch>
            <a:fillRect/>
          </a:stretch>
        </p:blipFill>
        <p:spPr>
          <a:xfrm>
            <a:off x="2219632" y="1933246"/>
            <a:ext cx="13798509" cy="6320422"/>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612292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D80EDB3A-6C64-74BF-FD27-50D912F77BDB}"/>
              </a:ext>
            </a:extLst>
          </p:cNvPr>
          <p:cNvSpPr txBox="1"/>
          <p:nvPr/>
        </p:nvSpPr>
        <p:spPr>
          <a:xfrm>
            <a:off x="2516626" y="2738663"/>
            <a:ext cx="14047838" cy="5162952"/>
          </a:xfrm>
          <a:prstGeom prst="rect">
            <a:avLst/>
          </a:prstGeom>
          <a:noFill/>
        </p:spPr>
        <p:txBody>
          <a:bodyPr wrap="square">
            <a:spAutoFit/>
          </a:bodyPr>
          <a:lstStyle/>
          <a:p>
            <a:pPr algn="l">
              <a:spcAft>
                <a:spcPts val="600"/>
              </a:spcAft>
              <a:buNone/>
            </a:pPr>
            <a:r>
              <a:rPr lang="en-US" sz="2400" b="1" i="0" dirty="0">
                <a:solidFill>
                  <a:srgbClr val="0D0D0D"/>
                </a:solidFill>
                <a:effectLst/>
                <a:latin typeface="Times New Roman" panose="02020603050405020304" pitchFamily="18" charset="0"/>
                <a:cs typeface="Times New Roman" panose="02020603050405020304" pitchFamily="18" charset="0"/>
              </a:rPr>
              <a:t>Advantages</a:t>
            </a:r>
          </a:p>
          <a:p>
            <a:pPr algn="l">
              <a:buFont typeface="Arial" panose="020B0604020202020204" pitchFamily="34" charset="0"/>
              <a:buChar char="•"/>
            </a:pPr>
            <a:r>
              <a:rPr lang="en-US" sz="2400" b="0" i="0" dirty="0">
                <a:solidFill>
                  <a:srgbClr val="0D0D0D"/>
                </a:solidFill>
                <a:effectLst/>
                <a:latin typeface="Times New Roman" panose="02020603050405020304" pitchFamily="18" charset="0"/>
                <a:cs typeface="Times New Roman" panose="02020603050405020304" pitchFamily="18" charset="0"/>
              </a:rPr>
              <a:t>Easy and user-friendly ticket booking system.</a:t>
            </a:r>
          </a:p>
          <a:p>
            <a:pPr algn="l">
              <a:buFont typeface="Arial" panose="020B0604020202020204" pitchFamily="34" charset="0"/>
              <a:buChar char="•"/>
            </a:pPr>
            <a:r>
              <a:rPr lang="en-US" sz="2400" b="0" i="0" dirty="0">
                <a:solidFill>
                  <a:srgbClr val="0D0D0D"/>
                </a:solidFill>
                <a:effectLst/>
                <a:latin typeface="Times New Roman" panose="02020603050405020304" pitchFamily="18" charset="0"/>
                <a:cs typeface="Times New Roman" panose="02020603050405020304" pitchFamily="18" charset="0"/>
              </a:rPr>
              <a:t>Saves time and reduces manual work.</a:t>
            </a:r>
          </a:p>
          <a:p>
            <a:pPr algn="l">
              <a:buFont typeface="Arial" panose="020B0604020202020204" pitchFamily="34" charset="0"/>
              <a:buChar char="•"/>
            </a:pPr>
            <a:r>
              <a:rPr lang="en-US" sz="2400" b="0" i="0" dirty="0">
                <a:solidFill>
                  <a:srgbClr val="0D0D0D"/>
                </a:solidFill>
                <a:effectLst/>
                <a:latin typeface="Times New Roman" panose="02020603050405020304" pitchFamily="18" charset="0"/>
                <a:cs typeface="Times New Roman" panose="02020603050405020304" pitchFamily="18" charset="0"/>
              </a:rPr>
              <a:t>Prevents overbooking of tickets.</a:t>
            </a:r>
          </a:p>
          <a:p>
            <a:pPr algn="l">
              <a:buFont typeface="Arial" panose="020B0604020202020204" pitchFamily="34" charset="0"/>
              <a:buChar char="•"/>
            </a:pPr>
            <a:r>
              <a:rPr lang="en-US" sz="2400" b="0" i="0" dirty="0">
                <a:solidFill>
                  <a:srgbClr val="0D0D0D"/>
                </a:solidFill>
                <a:effectLst/>
                <a:latin typeface="Times New Roman" panose="02020603050405020304" pitchFamily="18" charset="0"/>
                <a:cs typeface="Times New Roman" panose="02020603050405020304" pitchFamily="18" charset="0"/>
              </a:rPr>
              <a:t>Displays booking confirmation instantly.</a:t>
            </a:r>
          </a:p>
          <a:p>
            <a:pPr algn="l">
              <a:buFont typeface="Arial" panose="020B0604020202020204" pitchFamily="34" charset="0"/>
              <a:buChar char="•"/>
            </a:pPr>
            <a:r>
              <a:rPr lang="en-US" sz="2400" b="0" i="0" dirty="0">
                <a:solidFill>
                  <a:srgbClr val="0D0D0D"/>
                </a:solidFill>
                <a:effectLst/>
                <a:latin typeface="Times New Roman" panose="02020603050405020304" pitchFamily="18" charset="0"/>
                <a:cs typeface="Times New Roman" panose="02020603050405020304" pitchFamily="18" charset="0"/>
              </a:rPr>
              <a:t>Maintains booking history.</a:t>
            </a:r>
          </a:p>
          <a:p>
            <a:pPr>
              <a:buNone/>
            </a:pPr>
            <a:br>
              <a:rPr lang="en-US"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a:p>
            <a:pPr algn="l">
              <a:spcAft>
                <a:spcPts val="600"/>
              </a:spcAft>
              <a:buNone/>
            </a:pPr>
            <a:r>
              <a:rPr lang="en-US" sz="2400" b="1" i="0" dirty="0">
                <a:solidFill>
                  <a:srgbClr val="0D0D0D"/>
                </a:solidFill>
                <a:effectLst/>
                <a:latin typeface="Times New Roman" panose="02020603050405020304" pitchFamily="18" charset="0"/>
                <a:cs typeface="Times New Roman" panose="02020603050405020304" pitchFamily="18" charset="0"/>
              </a:rPr>
              <a:t> Limitations</a:t>
            </a:r>
          </a:p>
          <a:p>
            <a:pPr algn="l">
              <a:spcAft>
                <a:spcPts val="300"/>
              </a:spcAft>
              <a:buFont typeface="Arial" panose="020B0604020202020204" pitchFamily="34" charset="0"/>
              <a:buChar char="•"/>
            </a:pPr>
            <a:r>
              <a:rPr lang="en-US" sz="2400" b="0" i="0" dirty="0">
                <a:solidFill>
                  <a:srgbClr val="0D0D0D"/>
                </a:solidFill>
                <a:effectLst/>
                <a:latin typeface="Times New Roman" panose="02020603050405020304" pitchFamily="18" charset="0"/>
                <a:cs typeface="Times New Roman" panose="02020603050405020304" pitchFamily="18" charset="0"/>
              </a:rPr>
              <a:t>Uses local storage instead of database.</a:t>
            </a:r>
          </a:p>
          <a:p>
            <a:pPr algn="l">
              <a:spcAft>
                <a:spcPts val="300"/>
              </a:spcAft>
              <a:buFont typeface="Arial" panose="020B0604020202020204" pitchFamily="34" charset="0"/>
              <a:buChar char="•"/>
            </a:pPr>
            <a:r>
              <a:rPr lang="en-US" sz="2400" b="0" i="0" dirty="0">
                <a:solidFill>
                  <a:srgbClr val="0D0D0D"/>
                </a:solidFill>
                <a:effectLst/>
                <a:latin typeface="Times New Roman" panose="02020603050405020304" pitchFamily="18" charset="0"/>
                <a:cs typeface="Times New Roman" panose="02020603050405020304" pitchFamily="18" charset="0"/>
              </a:rPr>
              <a:t>Data is limited to one browser/device.</a:t>
            </a:r>
          </a:p>
          <a:p>
            <a:pPr algn="l">
              <a:spcAft>
                <a:spcPts val="300"/>
              </a:spcAft>
              <a:buFont typeface="Arial" panose="020B0604020202020204" pitchFamily="34" charset="0"/>
              <a:buChar char="•"/>
            </a:pPr>
            <a:r>
              <a:rPr lang="en-US" sz="2400" b="0" i="0" dirty="0">
                <a:solidFill>
                  <a:srgbClr val="0D0D0D"/>
                </a:solidFill>
                <a:effectLst/>
                <a:latin typeface="Times New Roman" panose="02020603050405020304" pitchFamily="18" charset="0"/>
                <a:cs typeface="Times New Roman" panose="02020603050405020304" pitchFamily="18" charset="0"/>
              </a:rPr>
              <a:t>No advanced security features.</a:t>
            </a:r>
          </a:p>
          <a:p>
            <a:pPr algn="l">
              <a:spcAft>
                <a:spcPts val="300"/>
              </a:spcAft>
              <a:buFont typeface="Arial" panose="020B0604020202020204" pitchFamily="34" charset="0"/>
              <a:buChar char="•"/>
            </a:pPr>
            <a:r>
              <a:rPr lang="en-US" sz="2400" b="0" i="0" dirty="0">
                <a:solidFill>
                  <a:srgbClr val="0D0D0D"/>
                </a:solidFill>
                <a:effectLst/>
                <a:latin typeface="Times New Roman" panose="02020603050405020304" pitchFamily="18" charset="0"/>
                <a:cs typeface="Times New Roman" panose="02020603050405020304" pitchFamily="18" charset="0"/>
              </a:rPr>
              <a:t>Not suitable for large-scale systems.</a:t>
            </a:r>
          </a:p>
        </p:txBody>
      </p:sp>
    </p:spTree>
    <p:extLst>
      <p:ext uri="{BB962C8B-B14F-4D97-AF65-F5344CB8AC3E}">
        <p14:creationId xmlns:p14="http://schemas.microsoft.com/office/powerpoint/2010/main" val="18389767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320</TotalTime>
  <Words>1018</Words>
  <Application>Microsoft Office PowerPoint</Application>
  <PresentationFormat>Custom</PresentationFormat>
  <Paragraphs>379</Paragraphs>
  <Slides>16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Gotham Bold Italics</vt:lpstr>
      <vt:lpstr>Gotham</vt:lpstr>
      <vt:lpstr>Cambria</vt:lpstr>
      <vt:lpstr>Bookman Old Style</vt:lpstr>
      <vt:lpstr>Times New Roman</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JISHNU</dc:creator>
  <cp:lastModifiedBy>Jishnu seelam js</cp:lastModifiedBy>
  <cp:revision>20</cp:revision>
  <dcterms:created xsi:type="dcterms:W3CDTF">2006-08-16T00:00:00Z</dcterms:created>
  <dcterms:modified xsi:type="dcterms:W3CDTF">2026-05-05T18:03:44Z</dcterms:modified>
  <dc:identifier>DAHCaYqJ9OU</dc:identifier>
</cp:coreProperties>
</file>